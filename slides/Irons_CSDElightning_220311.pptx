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Encode Sans Black"/>
      <p:bold r:id="rId10"/>
    </p:embeddedFon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enSans-regular.fntdata"/><Relationship Id="rId10" Type="http://schemas.openxmlformats.org/officeDocument/2006/relationships/font" Target="fonts/EncodeSansBlack-bold.fntdata"/><Relationship Id="rId13" Type="http://schemas.openxmlformats.org/officeDocument/2006/relationships/font" Target="fonts/OpenSans-italic.fntdata"/><Relationship Id="rId12" Type="http://schemas.openxmlformats.org/officeDocument/2006/relationships/font" Target="fonts/Open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1691812a0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2" name="Google Shape;62;g11691812a01_0_3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691812a0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691812a0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~75,000,000 reported cases, ~900,000 confirmed deaths</a:t>
            </a:r>
            <a:endParaRPr sz="1300">
              <a:solidFill>
                <a:srgbClr val="4B2E8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B2E83"/>
                </a:solidFill>
                <a:latin typeface="Calibri"/>
                <a:ea typeface="Calibri"/>
                <a:cs typeface="Calibri"/>
                <a:sym typeface="Calibri"/>
              </a:rPr>
              <a:t>Millions of jobs lost; Contraction of the global economy by 3.3% in real GDP in 2020 (IMF estimate)</a:t>
            </a:r>
            <a:endParaRPr sz="8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1691812a0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1691812a0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691812a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691812a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solidFill>
          <a:srgbClr val="4B2E8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W_W Logo_White.png"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5815" y="4459390"/>
            <a:ext cx="1028700" cy="692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334" y="4765675"/>
            <a:ext cx="1905003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_RtAngle_7502_RGB.png" id="53" name="Google Shape;5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587" y="3004564"/>
            <a:ext cx="2284305" cy="8457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671757" y="884868"/>
            <a:ext cx="69723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  <a:defRPr b="1" i="0" sz="5000" u="none" cap="none" strike="noStrike">
                <a:solidFill>
                  <a:schemeClr val="lt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+ Content">
  <p:cSld name="Header +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59305" y="1302544"/>
            <a:ext cx="8196300" cy="30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4B2E83"/>
              </a:buClr>
              <a:buSzPts val="2400"/>
              <a:buFont typeface="Merriweather Sans"/>
              <a:buChar char="&gt;"/>
              <a:defRPr b="1" i="0" sz="2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rtl="0" algn="l">
              <a:spcBef>
                <a:spcPts val="1200"/>
              </a:spcBef>
              <a:spcAft>
                <a:spcPts val="0"/>
              </a:spcAft>
              <a:buClr>
                <a:srgbClr val="4B2E83"/>
              </a:buClr>
              <a:buSzPts val="2000"/>
              <a:buFont typeface="Arial"/>
              <a:buChar char="–"/>
              <a:defRPr b="1" i="0" sz="20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marR="0" rtl="0" algn="l">
              <a:spcBef>
                <a:spcPts val="1200"/>
              </a:spcBef>
              <a:spcAft>
                <a:spcPts val="0"/>
              </a:spcAft>
              <a:buClr>
                <a:srgbClr val="4B2E83"/>
              </a:buClr>
              <a:buSzPts val="1800"/>
              <a:buFont typeface="Merriweather Sans"/>
              <a:buChar char="&gt;"/>
              <a:defRPr b="1" i="0" sz="18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marR="0" rtl="0" algn="l">
              <a:spcBef>
                <a:spcPts val="1200"/>
              </a:spcBef>
              <a:spcAft>
                <a:spcPts val="0"/>
              </a:spcAft>
              <a:buClr>
                <a:srgbClr val="4B2E83"/>
              </a:buClr>
              <a:buSzPts val="1600"/>
              <a:buFont typeface="Arial"/>
              <a:buChar char="–"/>
              <a:defRPr b="1" i="0" sz="16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spcBef>
                <a:spcPts val="1200"/>
              </a:spcBef>
              <a:spcAft>
                <a:spcPts val="0"/>
              </a:spcAft>
              <a:buClr>
                <a:srgbClr val="4B2E83"/>
              </a:buClr>
              <a:buSzPts val="1400"/>
              <a:buFont typeface="Merriweather Sans"/>
              <a:buChar char="&gt;"/>
              <a:defRPr b="1" i="0" sz="1400" u="none" cap="none" strike="noStrike">
                <a:solidFill>
                  <a:srgbClr val="4B2E83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W Logo_Purple_2685_HEX.png"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48139" y="4462058"/>
            <a:ext cx="1028700" cy="6926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ar_RtAngle_7502_RGB.png"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225" y="1078354"/>
            <a:ext cx="1358183" cy="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>
            <p:ph type="title"/>
          </p:nvPr>
        </p:nvSpPr>
        <p:spPr>
          <a:xfrm>
            <a:off x="671756" y="278633"/>
            <a:ext cx="8183700" cy="744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ncode Sans Black"/>
              <a:buNone/>
              <a:defRPr b="1" i="0" sz="3000" u="none" cap="none" strike="noStrike">
                <a:solidFill>
                  <a:schemeClr val="dk1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1.png"/><Relationship Id="rId13" Type="http://schemas.openxmlformats.org/officeDocument/2006/relationships/image" Target="../media/image7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671757" y="662756"/>
            <a:ext cx="6972300" cy="19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700">
                <a:latin typeface="Calibri"/>
                <a:ea typeface="Calibri"/>
                <a:cs typeface="Calibri"/>
                <a:sym typeface="Calibri"/>
              </a:rPr>
              <a:t>Optimal control of the impacts of COVID-19 via non-pharmaceutical interventions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671750" y="2721350"/>
            <a:ext cx="39003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Nicholas Irons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In collaboration with Zaid Harchaoui and Adrian Raftery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Encode Sans Black"/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CSDE Lightning Talks, Winter 2022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721339"/>
            <a:ext cx="1570450" cy="157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6475" y="2798425"/>
            <a:ext cx="1610013" cy="14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273981" y="296933"/>
            <a:ext cx="8183700" cy="744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Arial"/>
                <a:ea typeface="Arial"/>
                <a:cs typeface="Arial"/>
                <a:sym typeface="Arial"/>
              </a:rPr>
              <a:t>Impacts</a:t>
            </a:r>
            <a:r>
              <a:rPr b="0" lang="en">
                <a:latin typeface="Arial"/>
                <a:ea typeface="Arial"/>
                <a:cs typeface="Arial"/>
                <a:sym typeface="Arial"/>
              </a:rPr>
              <a:t> of COVID-19</a:t>
            </a:r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75" y="1220888"/>
            <a:ext cx="3958202" cy="3482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4300" y="3026974"/>
            <a:ext cx="4201702" cy="12158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6"/>
          <p:cNvCxnSpPr/>
          <p:nvPr/>
        </p:nvCxnSpPr>
        <p:spPr>
          <a:xfrm>
            <a:off x="4470888" y="500700"/>
            <a:ext cx="9300" cy="4142100"/>
          </a:xfrm>
          <a:prstGeom prst="straightConnector1">
            <a:avLst/>
          </a:prstGeom>
          <a:noFill/>
          <a:ln cap="flat" cmpd="sng" w="19050">
            <a:solidFill>
              <a:srgbClr val="4B2E8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850" y="500700"/>
            <a:ext cx="3669624" cy="224174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700875" y="1040000"/>
            <a:ext cx="1560000" cy="180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0" y="-6210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Decision-making under uncertainty</a:t>
            </a:r>
            <a:endParaRPr sz="202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56450" y="316525"/>
            <a:ext cx="3966600" cy="477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B2E83"/>
                </a:solidFill>
              </a:rPr>
              <a:t>The pandemic has posed significant challenges to decision-makers at every level of government</a:t>
            </a:r>
            <a:br>
              <a:rPr lang="en" sz="1500">
                <a:solidFill>
                  <a:srgbClr val="4B2E83"/>
                </a:solidFill>
              </a:rPr>
            </a:br>
            <a:endParaRPr sz="1500">
              <a:solidFill>
                <a:srgbClr val="4B2E8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B2E83"/>
                </a:solidFill>
              </a:rPr>
              <a:t>D</a:t>
            </a:r>
            <a:r>
              <a:rPr lang="en" sz="1500">
                <a:solidFill>
                  <a:srgbClr val="4B2E83"/>
                </a:solidFill>
              </a:rPr>
              <a:t>ifficult real-time decisions with limited data</a:t>
            </a:r>
            <a:br>
              <a:rPr lang="en" sz="1500">
                <a:solidFill>
                  <a:srgbClr val="4B2E83"/>
                </a:solidFill>
              </a:rPr>
            </a:br>
            <a:endParaRPr sz="1500">
              <a:solidFill>
                <a:srgbClr val="4B2E83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B2E83"/>
                </a:solidFill>
              </a:rPr>
              <a:t>Contentious debate about non-pharmaceutical intervention (NPI) policies that reduce viral transmission but present severe economic and social consequences: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Non-essential business closures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School closures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Stay-at-home orders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Social distancing measures</a:t>
            </a:r>
            <a:endParaRPr sz="1500"/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042350" y="303600"/>
            <a:ext cx="5101800" cy="47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B2E83"/>
                </a:solidFill>
              </a:rPr>
              <a:t>We d</a:t>
            </a:r>
            <a:r>
              <a:rPr lang="en" sz="1500">
                <a:solidFill>
                  <a:srgbClr val="4B2E83"/>
                </a:solidFill>
              </a:rPr>
              <a:t>evelop a statistical decision framework based in optimal control theory to address the economic and public health trade-offs of NPIs. 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Derive optimal NPI policies 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Quantitatively assess the efficacy of policies that have been implemented during the pandemic</a:t>
            </a:r>
            <a:endParaRPr sz="1500">
              <a:solidFill>
                <a:srgbClr val="4B2E8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B2E83"/>
                </a:solidFill>
              </a:rPr>
              <a:t>A number of gaps in the optimal control literature modeling NPI mitigation of COVID-19 severely limit its value in informing and evaluating policies 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We model multiple specific NPIs calibrated to US state-level COVID data. </a:t>
            </a:r>
            <a:endParaRPr sz="1500">
              <a:solidFill>
                <a:srgbClr val="4B2E83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○"/>
            </a:pPr>
            <a:r>
              <a:rPr lang="en" sz="1500">
                <a:solidFill>
                  <a:srgbClr val="4B2E83"/>
                </a:solidFill>
              </a:rPr>
              <a:t>Prior work models a catch-all “lockdown” NPI </a:t>
            </a:r>
            <a:endParaRPr sz="1500">
              <a:solidFill>
                <a:srgbClr val="4B2E83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●"/>
            </a:pPr>
            <a:r>
              <a:rPr lang="en" sz="1500">
                <a:solidFill>
                  <a:srgbClr val="4B2E83"/>
                </a:solidFill>
              </a:rPr>
              <a:t>We account for uncertainty in the relevant model parameters to derive robust policies </a:t>
            </a:r>
            <a:endParaRPr sz="1500">
              <a:solidFill>
                <a:srgbClr val="4B2E83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500"/>
              <a:buChar char="○"/>
            </a:pPr>
            <a:r>
              <a:rPr lang="en" sz="1500">
                <a:solidFill>
                  <a:srgbClr val="4B2E83"/>
                </a:solidFill>
              </a:rPr>
              <a:t>Prior work ignores parameter uncertainty, which is problematic.</a:t>
            </a:r>
            <a:endParaRPr sz="1500"/>
          </a:p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4883700" y="-6210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Goals and contributions</a:t>
            </a:r>
            <a:endParaRPr sz="2020"/>
          </a:p>
        </p:txBody>
      </p:sp>
      <p:cxnSp>
        <p:nvCxnSpPr>
          <p:cNvPr id="86" name="Google Shape;86;p17"/>
          <p:cNvCxnSpPr/>
          <p:nvPr/>
        </p:nvCxnSpPr>
        <p:spPr>
          <a:xfrm>
            <a:off x="4023100" y="454075"/>
            <a:ext cx="19200" cy="4495500"/>
          </a:xfrm>
          <a:prstGeom prst="straightConnector1">
            <a:avLst/>
          </a:prstGeom>
          <a:noFill/>
          <a:ln cap="flat" cmpd="sng" w="19050">
            <a:solidFill>
              <a:srgbClr val="4B2E8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350" y="3262150"/>
            <a:ext cx="2041950" cy="18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1500" y="2966400"/>
            <a:ext cx="5427226" cy="21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1512" y="687950"/>
            <a:ext cx="3856537" cy="18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>
            <p:ph type="title"/>
          </p:nvPr>
        </p:nvSpPr>
        <p:spPr>
          <a:xfrm>
            <a:off x="795900" y="-79125"/>
            <a:ext cx="7552200" cy="4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320">
                <a:solidFill>
                  <a:srgbClr val="4B2E83"/>
                </a:solidFill>
              </a:rPr>
              <a:t>Optimal control of the impacts of COVID-19 via non-pharmaceutical intervention</a:t>
            </a:r>
            <a:endParaRPr b="1" sz="1320">
              <a:solidFill>
                <a:srgbClr val="4B2E83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100"/>
              <a:t>Nicholas Irons, UW Statistics</a:t>
            </a:r>
            <a:endParaRPr sz="1100"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213" y="0"/>
            <a:ext cx="487800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0" y="408675"/>
            <a:ext cx="3532800" cy="94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 u="sng">
                <a:solidFill>
                  <a:srgbClr val="4B2E83"/>
                </a:solidFill>
              </a:rPr>
              <a:t>Goals and Contributions</a:t>
            </a:r>
            <a:br>
              <a:rPr b="1" lang="en" sz="1200" u="sng">
                <a:solidFill>
                  <a:srgbClr val="4B2E83"/>
                </a:solidFill>
              </a:rPr>
            </a:br>
            <a:r>
              <a:rPr lang="en" sz="1100">
                <a:solidFill>
                  <a:srgbClr val="4B2E83"/>
                </a:solidFill>
              </a:rPr>
              <a:t>D</a:t>
            </a:r>
            <a:r>
              <a:rPr lang="en" sz="1100">
                <a:solidFill>
                  <a:srgbClr val="4B2E83"/>
                </a:solidFill>
              </a:rPr>
              <a:t>evelop a statistical decision framework based in optimal control theory to address the economic and public health trade-offs of NPIs.</a:t>
            </a:r>
            <a:endParaRPr sz="1100">
              <a:solidFill>
                <a:srgbClr val="4B2E83"/>
              </a:solidFill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0" y="1726050"/>
            <a:ext cx="3999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 u="sng">
                <a:solidFill>
                  <a:srgbClr val="4B2E83"/>
                </a:solidFill>
              </a:rPr>
              <a:t>Epidemiological SIR Model</a:t>
            </a:r>
            <a:endParaRPr b="1" sz="1200" u="sng">
              <a:solidFill>
                <a:srgbClr val="4B2E83"/>
              </a:solidFill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589850" y="2482388"/>
            <a:ext cx="3600000" cy="67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 u="sng">
                <a:solidFill>
                  <a:srgbClr val="4B2E83"/>
                </a:solidFill>
              </a:rPr>
              <a:t>Results</a:t>
            </a:r>
            <a:br>
              <a:rPr b="1" lang="en" sz="1200" u="sng">
                <a:solidFill>
                  <a:srgbClr val="4B2E83"/>
                </a:solidFill>
              </a:rPr>
            </a:br>
            <a:r>
              <a:rPr lang="en" sz="1100">
                <a:solidFill>
                  <a:srgbClr val="4B2E83"/>
                </a:solidFill>
              </a:rPr>
              <a:t>Fitting the control model to state-level COVID data</a:t>
            </a:r>
            <a:endParaRPr sz="1100">
              <a:solidFill>
                <a:srgbClr val="4B2E83"/>
              </a:solidFill>
            </a:endParaRPr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7461750" y="408675"/>
            <a:ext cx="1806600" cy="24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rgbClr val="4B2E83"/>
                </a:solidFill>
              </a:rPr>
              <a:t>Data</a:t>
            </a:r>
            <a:br>
              <a:rPr b="1" lang="en" sz="1200" u="sng">
                <a:solidFill>
                  <a:srgbClr val="4B2E83"/>
                </a:solidFill>
              </a:rPr>
            </a:br>
            <a:r>
              <a:rPr lang="en" sz="1100">
                <a:solidFill>
                  <a:srgbClr val="4B2E83"/>
                </a:solidFill>
              </a:rPr>
              <a:t>State-level NPI policies: Oxford COVID</a:t>
            </a:r>
            <a:r>
              <a:rPr lang="en" sz="1100">
                <a:solidFill>
                  <a:srgbClr val="4B2E83"/>
                </a:solidFill>
              </a:rPr>
              <a:t>-19</a:t>
            </a:r>
            <a:r>
              <a:rPr lang="en" sz="1100">
                <a:solidFill>
                  <a:srgbClr val="4B2E83"/>
                </a:solidFill>
              </a:rPr>
              <a:t> Government Response Tracker</a:t>
            </a:r>
            <a:endParaRPr sz="1100">
              <a:solidFill>
                <a:srgbClr val="4B2E8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100">
                <a:solidFill>
                  <a:srgbClr val="4B2E83"/>
                </a:solidFill>
              </a:rPr>
            </a:br>
            <a:r>
              <a:rPr lang="en" sz="1100">
                <a:solidFill>
                  <a:srgbClr val="4B2E83"/>
                </a:solidFill>
              </a:rPr>
              <a:t>State-level COVID transmission data: JHU Center for Systems Science and Engineering</a:t>
            </a:r>
            <a:endParaRPr sz="1100">
              <a:solidFill>
                <a:srgbClr val="4B2E83"/>
              </a:solidFill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41337" y="1307562"/>
            <a:ext cx="1102675" cy="5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3650" y="2599264"/>
            <a:ext cx="1806599" cy="337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6950" y="2046488"/>
            <a:ext cx="3272724" cy="33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6213" y="2394713"/>
            <a:ext cx="2733875" cy="7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/>
          <p:nvPr/>
        </p:nvSpPr>
        <p:spPr>
          <a:xfrm>
            <a:off x="-57650" y="1227588"/>
            <a:ext cx="3681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100"/>
              <a:buChar char="●"/>
            </a:pPr>
            <a:r>
              <a:rPr lang="en" sz="1100">
                <a:solidFill>
                  <a:srgbClr val="4B2E83"/>
                </a:solidFill>
              </a:rPr>
              <a:t>Model multiple specific NPIs</a:t>
            </a:r>
            <a:endParaRPr sz="1100">
              <a:solidFill>
                <a:srgbClr val="4B2E83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2E83"/>
              </a:buClr>
              <a:buSzPts val="1100"/>
              <a:buChar char="●"/>
            </a:pPr>
            <a:r>
              <a:rPr lang="en" sz="1100">
                <a:solidFill>
                  <a:srgbClr val="4B2E83"/>
                </a:solidFill>
              </a:rPr>
              <a:t>Account for and quantify parameter uncertainty</a:t>
            </a:r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0" y="3073775"/>
            <a:ext cx="39999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 u="sng">
                <a:solidFill>
                  <a:srgbClr val="4B2E83"/>
                </a:solidFill>
              </a:rPr>
              <a:t>Controlling</a:t>
            </a:r>
            <a:r>
              <a:rPr b="1" lang="en" sz="1200" u="sng">
                <a:solidFill>
                  <a:srgbClr val="4B2E83"/>
                </a:solidFill>
              </a:rPr>
              <a:t> transmission with NPIs</a:t>
            </a:r>
            <a:endParaRPr b="1" sz="1200" u="sng">
              <a:solidFill>
                <a:srgbClr val="4B2E83"/>
              </a:solidFill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5225" y="3386775"/>
            <a:ext cx="1742017" cy="5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149" y="4606075"/>
            <a:ext cx="1646176" cy="4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0" y="3852925"/>
            <a:ext cx="1887900" cy="7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 u="sng">
                <a:solidFill>
                  <a:srgbClr val="4B2E83"/>
                </a:solidFill>
              </a:rPr>
              <a:t>Optimal control</a:t>
            </a:r>
            <a:br>
              <a:rPr b="1" lang="en" sz="1200" u="sng">
                <a:solidFill>
                  <a:srgbClr val="4B2E83"/>
                </a:solidFill>
              </a:rPr>
            </a:br>
            <a:r>
              <a:rPr lang="en" sz="1100">
                <a:solidFill>
                  <a:srgbClr val="4B2E83"/>
                </a:solidFill>
              </a:rPr>
              <a:t>Solve for policies minimizing cost function</a:t>
            </a:r>
            <a:endParaRPr sz="1100">
              <a:solidFill>
                <a:srgbClr val="4B2E83"/>
              </a:solidFill>
            </a:endParaRPr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589850" y="408675"/>
            <a:ext cx="204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200" u="sng">
                <a:solidFill>
                  <a:srgbClr val="4B2E83"/>
                </a:solidFill>
              </a:rPr>
              <a:t>Parameter Uncertainty</a:t>
            </a:r>
            <a:endParaRPr b="1" sz="1200" u="sng">
              <a:solidFill>
                <a:srgbClr val="4B2E83"/>
              </a:solidFill>
            </a:endParaRPr>
          </a:p>
        </p:txBody>
      </p:sp>
      <p:cxnSp>
        <p:nvCxnSpPr>
          <p:cNvPr id="110" name="Google Shape;110;p18"/>
          <p:cNvCxnSpPr/>
          <p:nvPr/>
        </p:nvCxnSpPr>
        <p:spPr>
          <a:xfrm>
            <a:off x="3587500" y="530400"/>
            <a:ext cx="19200" cy="4495500"/>
          </a:xfrm>
          <a:prstGeom prst="straightConnector1">
            <a:avLst/>
          </a:prstGeom>
          <a:noFill/>
          <a:ln cap="flat" cmpd="sng" w="9525">
            <a:solidFill>
              <a:srgbClr val="4B2E8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" name="Google Shape;111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263075" y="62875"/>
            <a:ext cx="659175" cy="57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